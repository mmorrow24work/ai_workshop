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4875580" cy="6858000"/>
          </a:xfrm>
          <a:prstGeom prst="rect">
            <a:avLst/>
          </a:prstGeom>
          <a:solidFill>
            <a:srgbClr val="16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67651" y="0"/>
            <a:ext cx="4572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Arial"/>
              </a:rPr>
              <a:t>AI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BED3F0"/>
                </a:solidFill>
                <a:latin typeface="Arial"/>
              </a:rPr>
              <a:t>Zero to Hero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ED3F0"/>
                </a:solidFill>
                <a:latin typeface="Arial"/>
              </a:rPr>
              <a:t>June 2026  ·  mmorrow24work/ai_workshop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3359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200" b="0" i="0">
                <a:solidFill>
                  <a:srgbClr val="BED3F0"/>
                </a:solidFill>
                <a:latin typeface="Arial"/>
              </a:rPr>
              <a:t>12 Chapters</a:t>
            </a:r>
          </a:p>
          <a:p>
            <a:pPr algn="ctr">
              <a:spcBef>
                <a:spcPts val="800"/>
              </a:spcBef>
            </a:pPr>
            <a:r>
              <a:rPr sz="2200" b="0" i="0">
                <a:solidFill>
                  <a:srgbClr val="BED3F0"/>
                </a:solidFill>
                <a:latin typeface="Arial"/>
              </a:rPr>
              <a:t/>
            </a:r>
          </a:p>
          <a:p>
            <a:pPr algn="ctr">
              <a:spcBef>
                <a:spcPts val="800"/>
              </a:spcBef>
            </a:pPr>
            <a:r>
              <a:rPr sz="2200" b="0" i="0">
                <a:solidFill>
                  <a:srgbClr val="BED3F0"/>
                </a:solidFill>
                <a:latin typeface="Arial"/>
              </a:rPr>
              <a:t>For IT Professionals</a:t>
            </a:r>
          </a:p>
          <a:p>
            <a:pPr algn="ctr">
              <a:spcBef>
                <a:spcPts val="800"/>
              </a:spcBef>
            </a:pPr>
            <a:r>
              <a:rPr sz="2200" b="0" i="0">
                <a:solidFill>
                  <a:srgbClr val="BED3F0"/>
                </a:solidFill>
                <a:latin typeface="Arial"/>
              </a:rPr>
              <a:t>&amp; Curious Beginners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What We'll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31536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01  AI Interfaces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02  LLM History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03  Frontier LLMs in 2026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04  Offline LLM Hosting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05  LLM Tokens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06  Subscription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1371600"/>
            <a:ext cx="5431536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07  AI Harness Options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08  Security Best Practices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09  AI Ethics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10  AI Governance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11  Staying Current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12  Bonus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AI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Six ways to talk to an LLM — from browser to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Six Ways to Talk to an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Browser — ChatGPT, Claude.ai, Gemini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No setup required; best for quick tasks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Desktop App — Claude Desktop, ChatGPT App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MCP support; integrates with local files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IDE Plugin — Copilot, Cursor, Continue.dev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AI inside your code editor with full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CLI — Claude Code, Ollama, Aider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Scriptable; works inside CI/CD pipelines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API — Anthropic, OpenAI, Google APIs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Build applications; pay per token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MCP — Model Context Protocol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Plugin system connecting AI to local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Interface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4114800"/>
                <a:gridCol w="3200400"/>
              </a:tblGrid>
              <a:tr h="483325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Skill Level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Data Risk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Browser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Quick questions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Desktop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Daily use +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IDE Plugin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Low–Medium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Coding assistance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Medium–High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Medium–High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Automation /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Low (local option)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Building apps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Configurable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Rich integrations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Configurable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LLM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From the transformer paper to the AI era — 2017 to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Key Milestones in LLM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2017  —  "Attention Is All You Need" — Google's Transformer paper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Parallel processing on GPUs; foundation of every modern LLM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2018–19  —  BERT (Google) · GPT-1 and GPT-2 (OpenAI)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GPT-2 so capable at text generation, OpenAI initially withheld it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2020  —  GPT-3 (175B parameters) — few-shot learning breakthrough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Nov 2022  —  ChatGPT launches — 1 million users in 5 days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2023  —  GPT-4 · Claude · Gemini · Llama 2 · Mistral 7B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2024–26  —  Reasoning models · agents · 1M token contexts · local inference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Frontier LLMs 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Proprietary and open-weight models — how to choose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Proprietary Frontier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Anthropic — Claude Family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Opus 4.8 · Sonnet 4.6 · Haiku 4.5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200 K token context window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Strength: long docs, safety, coding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OpenAI — GPT &amp; o-Series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GPT-4o (multimodal) · o3 (reasoning)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128 K context; o3 thinks before answering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Strength: ecosystem, real-time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Google DeepMind — Gemini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Gemini 2.0 Ultra · Flash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Up to 1 MILLION token context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Strength: Google Workspace integration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xAI — Grok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Real-time web access; integrated into X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Less enterprise adoption than top three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Open-Weight Models &amp; Choosing Wisely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Open-Weight: Free to download and run locally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Meta — Llama 4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Competes with proprietary on many benchmarks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Mistral AI — Mistral 7B / Large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Lean, efficient; good EU data-residency option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Also: Qwen 2.5 · Phi-4 · DeepSeek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Decision Guide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Max capability needed?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Claude Opus or GPT o3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Speed + cost balance?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Claude Sonnet or GPT-4o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Data must stay local?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Ollama + Llama 4 or Mistral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Google Workspace user?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Gemini 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Offline LLM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Run AI locally — your data never leaves your machine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Ollama: Simplest Path to Local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Why run locally?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Data stays on your machine — no cloud risk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No per-token API costs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Works fully offline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Install: curl -fsSL https://ollama.com/install.sh | sh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ollama pull llama3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ollama run llama3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ollama run llama3 "Explain REST APIs"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Hardware guide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7B model   → 8 GB RAM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13B model  → 16 GB RAM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34B model  → 32 GB RAM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70B model  → 64 GB RAM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Quantised models cut RAM needs by ~50 %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Start with llama3 (8B) — fast and capable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REST API at localhost:11434 (OpenAI-compatible)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Local AI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0607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5029200"/>
                <a:gridCol w="21031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GPU Required?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LM Studio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Desktop GUI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Non-technical users; model browser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Jan.ai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Desktop GUI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Open-source; MCP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GPT4All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Desktop GUI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CPU-only; older hardware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LocalAI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API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Developers; drop-in OpenAI replacement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Ollama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CLI + API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Developers; scriptable pipelines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LLM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The currency of AI — what they are and why they matter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What Is a Token?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~4 characters  or  ¾ of an English word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"Hello, how are you?"  →  ~5 tokens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"tokenisation"  →  ~3 tokens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Non-English text tokenises less efficiently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Context Window = max tokens in + out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Claude Opus/Sonnet/Haiku  —  200 K tokens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GPT-4o  —  128 K tokens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Gemini 2.0 Ultra  —  1 M tokens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≈ an entire novel in a single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Cost = input tokens + output tokens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Claude Sonnet: ~$3 in / $15 out per 1M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Claude Haiku:  ~$0.25 in / $1.25 out per 1M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GPT-4o:        ~$5 in / $15 out per 1M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GPT-4o-mini:   ~$0.15 in / $0.60 out per 1M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Prompt caching reduces cost 80–90 %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For repeated identical context/system prompts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Managing Large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When a document exceeds the context window, chunk it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Fixed chunking — equal-sized pieces (e.g. 1 000 tokens with 200-token overlap)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Semantic chunking — split at paragraphs, sections, or headings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Hierarchical summarisation — summarise each chunk, then summarise summaries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RAG — index the document and retrieve only relevant chunks at query time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See Chapter 12 (Bonus Topics) for a full RAG walkthrough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Rule of thumb: if it fits in context, include it — chunking adds complexity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Subscription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Claude Pro · ChatGPT Plus · Gemini Advanced — ~$20/month each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What $20/Month Gets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  <a:gridCol w="2468880"/>
                <a:gridCol w="246888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Claude Pro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ChatGPT Plus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Gemini Advanced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Best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Opus 4.8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GPT-4o / o3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Gemini 2.0 Ultra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Context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200 K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128 K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1 M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Usage limit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~5 hrs heavy 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80 msgs / 3 hrs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Generous, undocumented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Image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DALL-E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Imagen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Web browsing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MCP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✓  (Desktop)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Data training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✗  (Pro tier)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Opt-out available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Opt-out available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When to Move from Subscription to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Move to API when…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Building an application or automation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Subscriptions are for human users only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Need higher volume or custom rate limits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Need fine-grained control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temperature · max_tokens · system prompts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Need programmatic integration with code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Need per-token cost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Getting started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Anthropic: console.anthropic.com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~$5 minimum credit to start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OpenAI: platform.openai.com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Google: aistudio.google.com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Free tiers exist on all three APIs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Never use free tiers with client data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Free data may be used for model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AI Harness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Beyond the chat interface — tools built around the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Developer Tools for AI-Assisted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Claude Code  (CLI / Agent)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npm install -g @anthropic-ai/claude-code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Reads and writes your actual project files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Git integration; runs tests; creates PRs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Best: agentic multi-step coding tasks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Cursor  (IDE — VS Code fork)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AI-first editor; Composer for multi-file changes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Tab-complete + Chat + Agent modes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Best: developers wanting the smoothest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GitHub Copilot  (IDE Plugin)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Works in VS Code, JetBrains, Neovim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Inline completion + Copilot Chat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Best: existing GitHub users; team licences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Continue.dev  (Open-Source Plugin)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VS Code + JetBrains; connect ANY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Works with local Ollama models (privacy!)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Best: privacy-sensitive projects; cost control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Harness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96926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828800"/>
                <a:gridCol w="2011680"/>
                <a:gridCol w="2377440"/>
              </a:tblGrid>
              <a:tr h="483325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Models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Local Models?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>
                    <a:solidFill>
                      <a:srgbClr val="1A5C8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Claude Code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CLI / Agent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Claude only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API cost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Cursor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Multi-model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Free / $20/mo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Copilot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IDE Plugin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Multi-model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$10/mo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Continue.dev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IDE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Any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Free (BYOK)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open-claw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Web 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Claude only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API cost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hermes-agent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Configurable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C3E50"/>
                          </a:solidFill>
                          <a:latin typeface="Arial"/>
                        </a:rPr>
                        <a:t>Open-source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Security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Protecting client data when using AI tools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Fundamental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83112" cy="12801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9144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Arial"/>
              </a:rPr>
              <a:t>Never paste client data, PII, or confidential information into a public AI service without explicit organisational approval and a Data Processing Agreement.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1118311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Treat it like emailing a client spreadsheet to your personal Gmail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Sensitive data types to protect: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PII — names, email, phone, national IDs, dates of birth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Financial — account numbers, transaction records, salaries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Health data — diagnoses, medications, any medical information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Client confidential — strategy, unreleased products, legal documents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700" b="0" i="0">
                <a:solidFill>
                  <a:srgbClr val="606060"/>
                </a:solidFill>
                <a:latin typeface="Arial"/>
              </a:rPr>
              <a:t>    –  Credentials — passwords, API keys, tokens, private keys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API Key Security &amp;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API Key Security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Store keys in environment variables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Never commit keys to git repositories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Use a secrets manager (Vault, AWS Secrets)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Set spending limits on API accounts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Use separate keys per project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Rotate keys periodically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Prompt Injection Risk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Malicious user input manipulates model behaviour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Validate &amp; sanitise all user-supplied input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Keep system prompt separate from user content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Never give AI admin access to critical systems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For high-risk actions: require human confirmation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Log all prompts and responses for audit trail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Pre-Use Security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Is this data covered by an NDA, privacy law, or client agreement?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Has this AI tool been approved by your organisation's security policy?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Is there a Data Processing Agreement with the AI provider?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Are you using an enterprise tier (data NOT used for model training)?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Is your API key in an env variable or secrets manager — not in code?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Have you considered a local model (Ollama) instead of a cloud service?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900" b="0" i="0">
                <a:solidFill>
                  <a:srgbClr val="2C3E50"/>
                </a:solidFill>
                <a:latin typeface="Arial"/>
              </a:rPr>
              <a:t>▸  ☐  Is there a human reviewer in the loop for high-stakes outputs?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AI Ethics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Building and using AI responsibly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Key Ethical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Bias &amp; Fairness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Models learn patterns from biased training data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Test across demographic groups before deployment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Example: hiring model penalising postcodes ≈ race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Hallucinations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LLMs generate plausible but false information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Always verify facts from authoritative sources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Never rely on AI for legal citations without checking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Consent &amp; Transparency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Users have a right to know they're talking to AI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EU AI Act mandates disclosure in many contexts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Copyright &amp; IP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Training data includes copyrighted content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Ownership of AI-generated content still contested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Accessibility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AI can include or exclude — design with care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Consider users with disabilities, slow connections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Environmental Impact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Training a large model ≈ several transatlantic flights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Prefer smaller or local models when frontier not needed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Autonomy &amp; Human Oversight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Agentic AI needs meaningful human oversight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High-stakes decisions must have a human in the loop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AI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Regulations, frameworks, and compliance — what IT teams must know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Key Regulatory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EU AI Act  (in force Aug 2024)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World's first comprehensive AI law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Applies to any AI used in the EU, anywhere built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Risk tiers: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Unacceptable  — Banned (social scoring, mass surveillance)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High risk     — Strict requirements (hiring, credit, healthcare)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Limited risk  — Transparency obligations (chatbots, deepfakes)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Minimal risk  — No specific requirements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GDPR  (existing, applies to AI on personal data)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Art. 22: Right not to be subject to purely automated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NIST AI RMF  (US; voluntary, growing in procurement)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GOVERN · MAP · MEASURE · MANAGE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ISO/IEC 42001  (published 2023; certifiable)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Like ISO 27001 but for AI management systems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Certification becoming a differentiator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Australia — Privacy Act &amp; AI Safety Standard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APPs apply to AI handling personal data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Voluntary AI Safety Standard (2024) issued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2C3E50"/>
                </a:solidFill>
                <a:latin typeface="Arial"/>
              </a:rPr>
              <a:t>▸  Sector overlays: TGA (health) · ASIC (finance)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06060"/>
                </a:solidFill>
                <a:latin typeface="Arial"/>
              </a:rPr>
              <a:t>    –  Check sector-specific requirements for your domain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Minimal Responsible AI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Your policy should cover: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Approved use cases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Prohibited use cases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Data classification — what data meets which tools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Approved tools list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Human oversight requirements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Incident response for AI failures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Training requirements for staff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Review cadence (recommend: quarterly)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Before deploying an AI system: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Identify risk level under EU AI Act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Conduct Data Protection Impact Assessment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Document purpose, inputs, and outputs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Establish human oversight for high-risk decisions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Create an audit trail for AI decisions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Brief all staff on acceptable use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☐  Set a review date for the governance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Staying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AI moves fast — here's a sustainable system to keep 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Best Sources &amp; A Practical Reading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Newsletters (email)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The Batch — deeplearning.ai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Weekly; curated; excellent for IT professionals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TLDR AI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Daily; scannable in 5 minutes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Ben's Bites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Daily; strong on new tools and products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Import AI — Jack Clark (Anthropic co-founder)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Weekly; deep on research papers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Communities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r/LocalLlama · r/MachineLearning · HuggingFace Discord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 sustainable weekly system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Daily (5 min)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Scan TLDR AI headlines with morning coffee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Weekly (30 min)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Read The Batch digest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Monthly (1–2 hrs)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Deep-dive on ONE topic relevant to current work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Quarterly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Review tools — are there better options now?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Most important habit: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Apply what you learn. Reading without doing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builds no real understanding.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28016" cy="3108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0" b="1" i="0">
                <a:solidFill>
                  <a:srgbClr val="2572AD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3F0"/>
                </a:solidFill>
                <a:latin typeface="Arial"/>
              </a:rPr>
              <a:t>Chapter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Bonus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ED3F0"/>
                </a:solidFill>
                <a:latin typeface="Arial"/>
              </a:rPr>
              <a:t>Prompt Engineering · RAG · AI Agents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Prompt Engineering: Get More From Every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Be specific — format, length, audience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"Write a 3-paragraph summary for a Year 10 student"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Assign a role via the system prompt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"You are a senior Python developer. Be concise."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Few-shot examples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Show the pattern 2–3 times before the real task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Chain-of-thought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"Think step by step before answering"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Request structured output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"Return JSON with: summary, confidence (0–100), sources"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Set explicit constraints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"Under 150 words. No brand names. If unsure, say so."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System prompt structure for apps: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Role → Context → Instructions → Output format → Constraints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Resource: docs.anthropic.com/prompt-engineering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RAG: Grounding AI in Your Own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The problem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LLMs don't know your internal documents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Training data has a cutoff date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RAG solution: Index → Retrieve → Answer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Step 1 — Indexing (done once)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Split docs into chunks → embed → store in vector DB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Step 2 — Querying (every request)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Embed the question → find similar chunks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Include chunks in prompt → LLM answers with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Popular vector databases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ChromaDB — local, simple, great to start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Pinecone — managed cloud, production-ready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pgvector — PostgreSQL extension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Qdrant — high-performance open-source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Key use cases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Company knowledge base / internal docs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Customer support with product manuals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Policy Q&amp;A grounded in real documents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Frameworks: LangChain · LlamaIndex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537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AI Agents: From Answering to Acting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8752" y="201168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Chapter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Traditional LLM (single-turn)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You ask  →  It answers  →  Done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AI Agent (multi-turn, tool-using)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Goal  →  Plan  →  Act  →  Observe  →  Iterate  →  Report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Agents use tools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Read/write files · run terminal commands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Search the web · call APIs · query databases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Example: Claude Code as an agent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Plans which files to edit for a task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Writes code · runs tests · commits — autonomously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Real-world agent examples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Claude Code — coding + DevOps automation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OpenHands — full software engineering agent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AutoGPT — early autonomous task pioneer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Multi-agent systems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Orchestrator → Research Agent + Analysis Agent + Writer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Key safety considerations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Human confirmation for destructive actions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Limit tool access to what's needed (least privilege)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Set maximum iteration limits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Log everything for auditability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Top 10 Must-Watch YouTube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Andrej Karpathy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Neural Networks: Zero to Hero — build GPT from scratch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3Blue1Brown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Visual maths; best intro to neural networks anywhere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Two Minute Papers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3–5 min paper summaries — stay current effortlessly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Yannic Kilcher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Deep-dives on landmark AI research papers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AI Explained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Accessible model comparisons and capability breakdowns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Matt Wolfe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Weekly new tools roundup — beginner-friendly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Fireship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Fast, funny developer perspective; 100-seconds format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Sam Witteveen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Hands-on LangChain, RAG, and agent tutorials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Sentdex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Python and ML fundamentals; friendly long-form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Google DeepMind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Research explainers and AlphaFold-style documentaries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Top 10 AI Projects to Explore &amp; Learn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Ollama  (github.com/ollama/ollama)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Run LLMs locally in one command — start here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Stable Diffusion WebUI  (AUTOMATIC1111)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Open-source image generation; one of GitHub's most-starred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Hugging Face Transformers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The standard Python library for working with AI models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LangChain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Framework for building LLM apps, RAG, and agents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LlamaIndex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Specialised data ingestion and retrieval for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1280160"/>
            <a:ext cx="5431536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PrivateGPT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100 % local document Q&amp;A — nothing leaves your machine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OpenHands (ex-OpenDevin)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Open-source AI software engineering agent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AnythingLLM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Polished self-hosted AI stack with user management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Perplexica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Open-source Perplexity alternative — web-grounded answers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2C3E50"/>
                </a:solidFill>
                <a:latin typeface="Arial"/>
              </a:rPr>
              <a:t>▸  Anthropic Cookbook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606060"/>
                </a:solidFill>
                <a:latin typeface="Arial"/>
              </a:rPr>
              <a:t>    –  Official code examples for every Claude API pattern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Where to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31720"/>
            <a:ext cx="85313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348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1.  Try claude.ai or ChatGPT for a real task — today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2.  Run  ollama run llama3  to see your first local model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3.  Subscribe to The Batch (deeplearning.ai) newsletter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4.  Choose ONE tool and use it for real work this week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5.  Read the Security chapter before touching client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ED3F0"/>
                </a:solidFill>
                <a:latin typeface="Arial"/>
              </a:rPr>
              <a:t>github.com/mmorrow24work/ai_workshop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